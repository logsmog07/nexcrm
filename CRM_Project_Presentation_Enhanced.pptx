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 — CIC-210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Semester, C-Section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CRM Analytics &amp;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Intelligence System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484632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NexCRM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Leads. Closing Deals. Driving Growth.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669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Aggarwal — 36617702724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080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Hridhay Chaudhary — 51717702724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5669280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Monika Bansal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9601200" y="6080760"/>
            <a:ext cx="2130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Introduction &amp; Motivation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21792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Problem Statement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ER Diagram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21792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Technology Stack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40080" y="3886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Database Schema &amp; Normalization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6217920" y="3886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Project Implementation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640080" y="5074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Project Results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6217920" y="5074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Solutions Cost Comparison ($K annually)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758952" y="5166360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" y="1417320"/>
            <a:ext cx="704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1764792" y="5166360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65960" y="2897505"/>
            <a:ext cx="704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2770632" y="5166360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Pipedrive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3531870"/>
            <a:ext cx="704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3776472" y="5166360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NexCRM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77640" y="4589145"/>
            <a:ext cx="704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61264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💼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4944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$91B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4944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CRM Market Size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612648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49440" y="2788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4944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with CRM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612648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94944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4944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from CRM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Complex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560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CRMs require dedicated admins and months of training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73152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$10K+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44348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💸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3484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Expensive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2560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charges $90+/user/month at scale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457200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$90/mo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82753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27532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Insights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2560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CRMs store data but don't help you understand 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841248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457200" y="39319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NexCRM: Modern UI • Built-in Analytics • $0 Licensing • 5 min Setup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Entities • 22 Foreign Keys • 3NF Normalized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822960" y="1993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 role, created_at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023360" y="1993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23042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status, assigned_to, score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7223760" y="1993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0" y="23042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lead_id, health_score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822960" y="4187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4988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stage, value, customer_id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4023360" y="4187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44988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type, description, timestamp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7223760" y="4187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0" y="44988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industry, size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731520" y="6172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3474720" y="6172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4720" y="6446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Relationships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2" name="Text 30"/>
          <p:cNvSpPr/>
          <p:nvPr/>
        </p:nvSpPr>
        <p:spPr>
          <a:xfrm>
            <a:off x="6217920" y="6172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17920" y="6446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5" name="Text 33"/>
          <p:cNvSpPr/>
          <p:nvPr/>
        </p:nvSpPr>
        <p:spPr>
          <a:xfrm>
            <a:off x="8961120" y="6172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961120" y="6446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full-stack architecture with production-grade tools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⚛️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framework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434340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16636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 system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6636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804672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86968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build tool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6968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640080" y="3611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🟢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6304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REST API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4251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4343400" y="3611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🐘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16636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RDBMS with advanced features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4251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0" name="Text 28"/>
          <p:cNvSpPr/>
          <p:nvPr/>
        </p:nvSpPr>
        <p:spPr>
          <a:xfrm>
            <a:off x="8046720" y="3611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86968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security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869680" y="4251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Secure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5" name="Text 33"/>
          <p:cNvSpPr/>
          <p:nvPr/>
        </p:nvSpPr>
        <p:spPr>
          <a:xfrm>
            <a:off x="914400" y="5394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8" name="Text 36"/>
          <p:cNvSpPr/>
          <p:nvPr/>
        </p:nvSpPr>
        <p:spPr>
          <a:xfrm>
            <a:off x="4297680" y="5394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1" name="Text 39"/>
          <p:cNvSpPr/>
          <p:nvPr/>
        </p:nvSpPr>
        <p:spPr>
          <a:xfrm>
            <a:off x="7680960" y="5394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&amp; Normalization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6596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8328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006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3524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54864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6676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FK, CHECK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54864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596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FK, CHECK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54864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6596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6676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FK, CHECK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2" name="Text 30"/>
          <p:cNvSpPr/>
          <p:nvPr/>
        </p:nvSpPr>
        <p:spPr>
          <a:xfrm>
            <a:off x="54864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6596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8328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deal_id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7512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6676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FK, CHECK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9" name="Text 37"/>
          <p:cNvSpPr/>
          <p:nvPr/>
        </p:nvSpPr>
        <p:spPr>
          <a:xfrm>
            <a:off x="54864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6596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8328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activity_id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7512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6676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FK, CHECK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6" name="Text 44"/>
          <p:cNvSpPr/>
          <p:nvPr/>
        </p:nvSpPr>
        <p:spPr>
          <a:xfrm>
            <a:off x="54864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96596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8328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006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company_id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7512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6676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FK, CHECK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3" name="Text 51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✓ — Atomic values, no repeating groups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5" name="Text 53"/>
          <p:cNvSpPr/>
          <p:nvPr/>
        </p:nvSpPr>
        <p:spPr>
          <a:xfrm>
            <a:off x="640080" y="4572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✓ — No partial dependencies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7" name="Text 55"/>
          <p:cNvSpPr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✓ — No transitive dependencies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Implementation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Screenshots &amp; Code Highlights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1371600" y="5029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931920" y="5029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API Endpoints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492240" y="5029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DB Tables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9052560" y="5029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878 Data Rows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$847K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329184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627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03504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35040" y="1627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19659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877824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Deal Value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78240" y="1627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$45.2K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0" y="19659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(Last 6 Months)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5" name="Text 33"/>
          <p:cNvSpPr/>
          <p:nvPr/>
        </p:nvSpPr>
        <p:spPr>
          <a:xfrm>
            <a:off x="6217920" y="246888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Funnel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7" name="Text 35"/>
          <p:cNvSpPr/>
          <p:nvPr/>
        </p:nvSpPr>
        <p:spPr>
          <a:xfrm>
            <a:off x="6217920" y="2788920"/>
            <a:ext cx="5330952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9" name="Text 37"/>
          <p:cNvSpPr/>
          <p:nvPr/>
        </p:nvSpPr>
        <p:spPr>
          <a:xfrm>
            <a:off x="6317875" y="3497580"/>
            <a:ext cx="5131041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1" name="Text 39"/>
          <p:cNvSpPr/>
          <p:nvPr/>
        </p:nvSpPr>
        <p:spPr>
          <a:xfrm>
            <a:off x="6417831" y="4206240"/>
            <a:ext cx="4931131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3" name="Text 41"/>
          <p:cNvSpPr/>
          <p:nvPr/>
        </p:nvSpPr>
        <p:spPr>
          <a:xfrm>
            <a:off x="6517786" y="4914900"/>
            <a:ext cx="473122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Lead Management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457200" y="22860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NEXCRM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Portal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1645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3383280" y="2377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338328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4069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JWT Tokens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43434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bcrypt hashing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4617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Role-based access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4892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Session timeout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6355080" y="1298448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Leads Management (15 Leads)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6400800" y="1810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9326880" y="18562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607040" y="1810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6400800" y="2176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TechStart Inc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8" name="Text 26"/>
          <p:cNvSpPr/>
          <p:nvPr/>
        </p:nvSpPr>
        <p:spPr>
          <a:xfrm>
            <a:off x="9326880" y="22219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607040" y="2176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1" name="Text 29"/>
          <p:cNvSpPr/>
          <p:nvPr/>
        </p:nvSpPr>
        <p:spPr>
          <a:xfrm>
            <a:off x="6400800" y="2542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Solutions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3" name="Text 31"/>
          <p:cNvSpPr/>
          <p:nvPr/>
        </p:nvSpPr>
        <p:spPr>
          <a:xfrm>
            <a:off x="9326880" y="25877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607040" y="2542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6" name="Text 34"/>
          <p:cNvSpPr/>
          <p:nvPr/>
        </p:nvSpPr>
        <p:spPr>
          <a:xfrm>
            <a:off x="6400800" y="2907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Ltd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8" name="Text 36"/>
          <p:cNvSpPr/>
          <p:nvPr/>
        </p:nvSpPr>
        <p:spPr>
          <a:xfrm>
            <a:off x="9326880" y="2953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607040" y="2907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Pipeline Kanban 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deal tracking across 6 stages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1965960" y="1417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594360" y="20848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3042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594360" y="28163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0358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594360" y="35478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" y="37673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457200" y="6126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242316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3931920" y="1417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2560320" y="20848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60320" y="23042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2560320" y="28163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60320" y="30358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2" name="Text 30"/>
          <p:cNvSpPr/>
          <p:nvPr/>
        </p:nvSpPr>
        <p:spPr>
          <a:xfrm>
            <a:off x="2560320" y="35478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60320" y="37673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5" name="Text 33"/>
          <p:cNvSpPr/>
          <p:nvPr/>
        </p:nvSpPr>
        <p:spPr>
          <a:xfrm>
            <a:off x="2423160" y="6126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7" name="Text 35"/>
          <p:cNvSpPr/>
          <p:nvPr/>
        </p:nvSpPr>
        <p:spPr>
          <a:xfrm>
            <a:off x="438912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9" name="Text 37"/>
          <p:cNvSpPr/>
          <p:nvPr/>
        </p:nvSpPr>
        <p:spPr>
          <a:xfrm>
            <a:off x="5897880" y="1417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2" name="Text 40"/>
          <p:cNvSpPr/>
          <p:nvPr/>
        </p:nvSpPr>
        <p:spPr>
          <a:xfrm>
            <a:off x="4526280" y="20848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26280" y="23042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5" name="Text 43"/>
          <p:cNvSpPr/>
          <p:nvPr/>
        </p:nvSpPr>
        <p:spPr>
          <a:xfrm>
            <a:off x="4526280" y="28163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26280" y="30358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8" name="Text 46"/>
          <p:cNvSpPr/>
          <p:nvPr/>
        </p:nvSpPr>
        <p:spPr>
          <a:xfrm>
            <a:off x="4526280" y="35478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26280" y="37673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1" name="Text 49"/>
          <p:cNvSpPr/>
          <p:nvPr/>
        </p:nvSpPr>
        <p:spPr>
          <a:xfrm>
            <a:off x="4389120" y="6126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3" name="Text 51"/>
          <p:cNvSpPr/>
          <p:nvPr/>
        </p:nvSpPr>
        <p:spPr>
          <a:xfrm>
            <a:off x="635508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5" name="Text 53"/>
          <p:cNvSpPr/>
          <p:nvPr/>
        </p:nvSpPr>
        <p:spPr>
          <a:xfrm>
            <a:off x="7863840" y="1417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7" name="Shape 5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8" name="Text 56"/>
          <p:cNvSpPr/>
          <p:nvPr/>
        </p:nvSpPr>
        <p:spPr>
          <a:xfrm>
            <a:off x="6492240" y="20848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492240" y="23042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1" name="Text 59"/>
          <p:cNvSpPr/>
          <p:nvPr/>
        </p:nvSpPr>
        <p:spPr>
          <a:xfrm>
            <a:off x="6492240" y="28163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492240" y="30358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4" name="Text 62"/>
          <p:cNvSpPr/>
          <p:nvPr/>
        </p:nvSpPr>
        <p:spPr>
          <a:xfrm>
            <a:off x="6492240" y="35478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492240" y="37673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7" name="Text 65"/>
          <p:cNvSpPr/>
          <p:nvPr/>
        </p:nvSpPr>
        <p:spPr>
          <a:xfrm>
            <a:off x="6355080" y="6126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$380K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9" name="Text 67"/>
          <p:cNvSpPr/>
          <p:nvPr/>
        </p:nvSpPr>
        <p:spPr>
          <a:xfrm>
            <a:off x="832104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1" name="Text 69"/>
          <p:cNvSpPr/>
          <p:nvPr/>
        </p:nvSpPr>
        <p:spPr>
          <a:xfrm>
            <a:off x="9829800" y="1417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3" name="Shape 7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4" name="Text 72"/>
          <p:cNvSpPr/>
          <p:nvPr/>
        </p:nvSpPr>
        <p:spPr>
          <a:xfrm>
            <a:off x="8458200" y="20848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458200" y="23042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7" name="Text 75"/>
          <p:cNvSpPr/>
          <p:nvPr/>
        </p:nvSpPr>
        <p:spPr>
          <a:xfrm>
            <a:off x="8458200" y="28163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458200" y="30358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0" name="Text 78"/>
          <p:cNvSpPr/>
          <p:nvPr/>
        </p:nvSpPr>
        <p:spPr>
          <a:xfrm>
            <a:off x="8321040" y="6126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2" name="Text 80"/>
          <p:cNvSpPr/>
          <p:nvPr/>
        </p:nvSpPr>
        <p:spPr>
          <a:xfrm>
            <a:off x="1028700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4" name="Text 82"/>
          <p:cNvSpPr/>
          <p:nvPr/>
        </p:nvSpPr>
        <p:spPr>
          <a:xfrm>
            <a:off x="11795760" y="1417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6" name="Shape 8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7" name="Text 85"/>
          <p:cNvSpPr/>
          <p:nvPr/>
        </p:nvSpPr>
        <p:spPr>
          <a:xfrm>
            <a:off x="10424160" y="20848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10424160" y="23042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0" name="Text 88"/>
          <p:cNvSpPr/>
          <p:nvPr/>
        </p:nvSpPr>
        <p:spPr>
          <a:xfrm>
            <a:off x="10424160" y="28163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10424160" y="30358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3" name="Text 91"/>
          <p:cNvSpPr/>
          <p:nvPr/>
        </p:nvSpPr>
        <p:spPr>
          <a:xfrm>
            <a:off x="10287000" y="6126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&amp; Insights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Closed by Sales Rep (Q1)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786384" y="397764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1741516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1883664" y="397764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2053244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2980944" y="397764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1325880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4078224" y="397764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0" y="2364971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28016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Heatmap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0880" y="16002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16002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16002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235440" y="16002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66960" y="16002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98480" y="16002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2" name="Text 30"/>
          <p:cNvSpPr/>
          <p:nvPr/>
        </p:nvSpPr>
        <p:spPr>
          <a:xfrm>
            <a:off x="6217920" y="22402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0" name="Text 38"/>
          <p:cNvSpPr/>
          <p:nvPr/>
        </p:nvSpPr>
        <p:spPr>
          <a:xfrm>
            <a:off x="6217920" y="2606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2" name="Shape 4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5" name="Shape 4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7" name="Shape 4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8" name="Text 46"/>
          <p:cNvSpPr/>
          <p:nvPr/>
        </p:nvSpPr>
        <p:spPr>
          <a:xfrm>
            <a:off x="6217920" y="2971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0" name="Shape 4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2" name="Shape 5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3" name="Shape 5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4" name="Shape 5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5" name="Shape 5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6" name="Text 54"/>
          <p:cNvSpPr/>
          <p:nvPr/>
        </p:nvSpPr>
        <p:spPr>
          <a:xfrm>
            <a:off x="6217920" y="33375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8" name="Shape 5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9" name="Shape 5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0" name="Shape 5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1" name="Shape 5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2" name="Shape 6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3" name="Shape 6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4" name="Shape 6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5" name="Text 63"/>
          <p:cNvSpPr/>
          <p:nvPr/>
        </p:nvSpPr>
        <p:spPr>
          <a:xfrm>
            <a:off x="6355080" y="4663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6812280" y="46451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deals stale for 14+ days in negotiation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8" name="Text 66"/>
          <p:cNvSpPr/>
          <p:nvPr/>
        </p:nvSpPr>
        <p:spPr>
          <a:xfrm>
            <a:off x="6355080" y="53492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6812280" y="53309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performer: Lisa (22 deals, $847K revenue)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1" name="Text 69"/>
          <p:cNvSpPr/>
          <p:nvPr/>
        </p:nvSpPr>
        <p:spPr>
          <a:xfrm>
            <a:off x="6355080" y="60350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6812280" y="60167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activity: Thursday 3-6 PM (highest conversion)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Performance &amp; Database Statistics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Times (milliseconds)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/leads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5332095" y="1645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/deals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569214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548640" y="2377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/customers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4972050" y="2377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/deals/:id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548640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548640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/leads/:id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4663440" y="3108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548640" y="3474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/analytics/report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7" name="Text 25"/>
          <p:cNvSpPr/>
          <p:nvPr/>
        </p:nvSpPr>
        <p:spPr>
          <a:xfrm>
            <a:off x="1104138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156ms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640080" y="4206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40080" y="4937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5257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Tables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3" name="Text 31"/>
          <p:cNvSpPr/>
          <p:nvPr/>
        </p:nvSpPr>
        <p:spPr>
          <a:xfrm>
            <a:off x="3520440" y="4206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878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3520440" y="4937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20440" y="5257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7" name="Text 35"/>
          <p:cNvSpPr/>
          <p:nvPr/>
        </p:nvSpPr>
        <p:spPr>
          <a:xfrm>
            <a:off x="6400800" y="4206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6400800" y="4937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5257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Size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1" name="Text 39"/>
          <p:cNvSpPr/>
          <p:nvPr/>
        </p:nvSpPr>
        <p:spPr>
          <a:xfrm>
            <a:off x="9281160" y="4206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9281160" y="4937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281160" y="5257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Avg Time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Completion &amp; Key Metrics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9436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&amp; RBAC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745236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594360" y="1755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KPI Cards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7452360" y="1755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594360" y="21396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 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7452360" y="2139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594360" y="25237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 &amp; Timeline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7452360" y="25237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4" name="Text 22"/>
          <p:cNvSpPr/>
          <p:nvPr/>
        </p:nvSpPr>
        <p:spPr>
          <a:xfrm>
            <a:off x="594360" y="29077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Pipeline Board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7" name="Text 25"/>
          <p:cNvSpPr/>
          <p:nvPr/>
        </p:nvSpPr>
        <p:spPr>
          <a:xfrm>
            <a:off x="7452360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59436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2" name="Text 30"/>
          <p:cNvSpPr/>
          <p:nvPr/>
        </p:nvSpPr>
        <p:spPr>
          <a:xfrm>
            <a:off x="745236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594360" y="36758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Console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7" name="Text 35"/>
          <p:cNvSpPr/>
          <p:nvPr/>
        </p:nvSpPr>
        <p:spPr>
          <a:xfrm>
            <a:off x="7452360" y="3675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9" name="Text 37"/>
          <p:cNvSpPr/>
          <p:nvPr/>
        </p:nvSpPr>
        <p:spPr>
          <a:xfrm>
            <a:off x="594360" y="40599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&amp; Docs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2" name="Text 40"/>
          <p:cNvSpPr/>
          <p:nvPr/>
        </p:nvSpPr>
        <p:spPr>
          <a:xfrm>
            <a:off x="7452360" y="4059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4" name="Text 42"/>
          <p:cNvSpPr/>
          <p:nvPr/>
        </p:nvSpPr>
        <p:spPr>
          <a:xfrm>
            <a:off x="818388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878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818388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Database Records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7" name="Text 45"/>
          <p:cNvSpPr/>
          <p:nvPr/>
        </p:nvSpPr>
        <p:spPr>
          <a:xfrm>
            <a:off x="10451592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0451592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0" name="Text 48"/>
          <p:cNvSpPr/>
          <p:nvPr/>
        </p:nvSpPr>
        <p:spPr>
          <a:xfrm>
            <a:off x="12719304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12719304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Columns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3" name="Text 51"/>
          <p:cNvSpPr/>
          <p:nvPr/>
        </p:nvSpPr>
        <p:spPr>
          <a:xfrm>
            <a:off x="8183880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18388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6" name="Text 54"/>
          <p:cNvSpPr/>
          <p:nvPr/>
        </p:nvSpPr>
        <p:spPr>
          <a:xfrm>
            <a:off x="10451592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10451592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Level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9" name="Text 57"/>
          <p:cNvSpPr/>
          <p:nvPr/>
        </p:nvSpPr>
        <p:spPr>
          <a:xfrm>
            <a:off x="12719304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12719304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Constraints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868680" y="137160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Successfully implemented all DBMS concepts: 3NF normalization, indexing, FK constraints, complex queries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 production-ready full-stack CRM with enterprise-grade UI/UX and modern architecture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868680" y="283464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Achieved &lt;200ms API response times with optimized database and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Resources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10360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PostgreSQL 15 Official Documentation — www.postgresql.org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4636008"/>
            <a:ext cx="10360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React 18 &amp; Node.js Express — react.dev, expressjs.com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4928616"/>
            <a:ext cx="10360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Ramakrishnan &amp; Gehrke, "Database Management Systems," McGraw-Hill 3rd Ed.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5221224"/>
            <a:ext cx="10360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JWT RFC 7519 &amp; Secure Auth Patterns — tools.ietf.org/html/rfc7519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5513832"/>
            <a:ext cx="10360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CRM Industry Report 2025 — gartner.com, forrester.com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2026-04-17T07:29:13Z</dcterms:created>
  <dcterms:modified xsi:type="dcterms:W3CDTF">2026-04-17T07:29:13Z</dcterms:modified>
</cp:coreProperties>
</file>