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— CIC-210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Semester, C-Section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CRM Analytics &amp;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Intelligence System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8463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NexCRM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Leads. Closing Deals. Driving Growth.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Aggarwal — 36617702724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080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Hridhay Chaudhary — 51717702724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5669280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Monika Bansal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9601200" y="6080760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Introduction &amp; Motivation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621792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ER Diagram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621792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Technology Stack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Database Schema &amp; Normalization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6217920" y="3886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Project Implementation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Project Results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6217920" y="5074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CRM?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manages customer relationships and sales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&amp; HubSpot are too expensive and complex for growing teams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NexCRM: Modern, affordable, analytics-driven CRM built from scratch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45720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5394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669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teams, startups, and businesses that need data-driven decisions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1463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$91B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71323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CRM Market Size (2025)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1463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1440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 with 10+ employees use a CRM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713232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increase after CRM adoption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CRMs like Salesforce require dedicated admins and months of training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4348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3484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34840" y="2560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charges $90+/user/month at scale — unaffordable for growing teams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8275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7532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Insights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2560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CRMs store data but don't help you understand it with actionable analytics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NexCRM solves all three — modern UI, built-in analytics, and zero licensing cost.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entities with normalized relationships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10058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name, email, role)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6634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name, status, assigned_to)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83210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name, lead_id)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0584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title, stage, customer_id)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466344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type, user_id, customer_id)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832104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name)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1371600" y="5943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7" name="Text 25"/>
          <p:cNvSpPr/>
          <p:nvPr/>
        </p:nvSpPr>
        <p:spPr>
          <a:xfrm>
            <a:off x="4572000" y="5943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Foreign Keys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7772400" y="5943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architecture — production ready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434340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16636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804672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6968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fast build tool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434340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🐘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6636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804672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86968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914400" y="5394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4297680" y="5394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5" name="Text 33"/>
          <p:cNvSpPr/>
          <p:nvPr/>
        </p:nvSpPr>
        <p:spPr>
          <a:xfrm>
            <a:off x="7680960" y="5394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Normalization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1463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874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role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 all tables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331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status, assigned_to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4904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54864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lead_id, owner_id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leads, users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548640" y="3246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stage, value, customer_id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customers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Text 22"/>
          <p:cNvSpPr/>
          <p:nvPr/>
        </p:nvSpPr>
        <p:spPr>
          <a:xfrm>
            <a:off x="54864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3703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type, user_id, customer_id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4904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users, customers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8" name="Text 26"/>
          <p:cNvSpPr/>
          <p:nvPr/>
        </p:nvSpPr>
        <p:spPr>
          <a:xfrm>
            <a:off x="54864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54480" y="4160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4160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 all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7040880" y="155448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1920240"/>
            <a:ext cx="4507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values, no repeating groups, PKs defined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5" name="Text 33"/>
          <p:cNvSpPr/>
          <p:nvPr/>
        </p:nvSpPr>
        <p:spPr>
          <a:xfrm>
            <a:off x="7040880" y="310896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3474720"/>
            <a:ext cx="4507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dependencies on composite keys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8" name="Text 36"/>
          <p:cNvSpPr/>
          <p:nvPr/>
        </p:nvSpPr>
        <p:spPr>
          <a:xfrm>
            <a:off x="7040880" y="466344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5029200"/>
            <a:ext cx="4507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dependencies, data fully normalized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Screenshots &amp; Code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182880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93192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API Endpoints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03504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DB Tables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813816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 Data Rows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Dashboard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JWT Authentication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login page (indigo left panel + form right)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Admin / Manager / Sales Rep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 localStorage, auto-redirect on expiry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428232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Smart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2057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cards: Revenue · Leads · Conversion · Deals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8232" y="2743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line chart (6 months)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3429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stage funnel chart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8232" y="4114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feed + Sales leaderboard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1828800" y="6217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4572000" y="6217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7315200" y="6217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Customer Management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Lead Management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leads in sample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New → Contacted → Qualified → Lost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assign to 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Right-side drawer panel on click (no page reload)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lead → customer button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428232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Customer Profiles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0574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customers with full profiles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28346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layout: Overview · Deals · Activity Timeline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28232" y="36118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indicator (color-coded)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28232" y="43891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interaction history per customer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371600" y="5669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3383280" y="5669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5394960" y="5669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7406640" y="5669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Won/Lost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&amp; Activity Logging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Kanban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between 6 stages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Lead In · Contacted · Proposal · Negotiation · Won · Lost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shows: company, value, due date, assigned rep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Won/Lost columns have green/red tint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deals across all stages in sample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428232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Activity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057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calls, emails, meetings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2697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 per customer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28232" y="3337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activities in sample 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28232" y="3977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activities trigger notifications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28232" y="4617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vs pending status tracking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731520" y="5669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2560320" y="5669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4389120" y="5669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Text 22"/>
          <p:cNvSpPr/>
          <p:nvPr/>
        </p:nvSpPr>
        <p:spPr>
          <a:xfrm>
            <a:off x="6217920" y="5669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8046720" y="5669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8" name="Text 26"/>
          <p:cNvSpPr/>
          <p:nvPr/>
        </p:nvSpPr>
        <p:spPr>
          <a:xfrm>
            <a:off x="9875520" y="5669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AI Insights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data into decisions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Revenue Trends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chart, filterable by 7D/30D/90D/1Y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6428232" y="2057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🔻 Conversion Funnel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8232" y="24231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Contact → Qualify → Win stages with % drop-off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4008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Sales Leaderboard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 performance: deals closed, revenue, conversion 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6428232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AI Insight Cards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28232" y="4526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alerts: stale deals, follow-up reminders, pattern insights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640080" y="59436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8 deals in 'Negotiation' have been stale for 14+ days — review them now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Console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database inspection tool — isolated from main CRM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594360" y="2514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JWT secret, master password, rate limited (5 attempts/15min)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4343400" y="2514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4340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Browser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35204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viewer for all DB tables, company filter, search, export CSV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8092440" y="2514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0924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Runner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35204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 console, SELECT only, query history, 100 row limit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2286000" y="5486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 Visible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486400" y="5486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Safe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at /dev-console/login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Results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RBAC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94960" y="13716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KPIs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7830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21945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48640" y="2606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606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Pipeline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30175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486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34290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548640" y="3840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Console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8404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42519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8" name="Text 26"/>
          <p:cNvSpPr/>
          <p:nvPr/>
        </p:nvSpPr>
        <p:spPr>
          <a:xfrm>
            <a:off x="6336792" y="1691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336792" y="2331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DB Rows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1" name="Text 29"/>
          <p:cNvSpPr/>
          <p:nvPr/>
        </p:nvSpPr>
        <p:spPr>
          <a:xfrm>
            <a:off x="8851392" y="1691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851392" y="2331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6336792" y="3520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336792" y="4160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Modules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8851392" y="3520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8851392" y="4160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Demonstrated DBMS concepts: 3NF, indexing, FK constraints, complex queries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 a production-ready full-stack CRM with modern SaaS-quality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Delivered all 8 project objectives from the proposal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PostgreSQL Documentation — postgresql.org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452628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React.js Docs — react.dev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484632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R. Ramakrishnan, "Database Management Systems," McGraw-Hill, 2002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516636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JWT RFC 7519 — tools.ietf.org/html/rfc7519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548640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HubSpot CRM — hubspot.com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580644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Tailwind CSS Docs — tailwindcss.com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2026-04-17T07:23:32Z</dcterms:created>
  <dcterms:modified xsi:type="dcterms:W3CDTF">2026-04-17T07:23:32Z</dcterms:modified>
</cp:coreProperties>
</file>